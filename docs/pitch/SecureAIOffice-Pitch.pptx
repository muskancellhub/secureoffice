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1067D"/>
          </a:solidFill>
          <a:ln w="12700">
            <a:solidFill>
              <a:srgbClr val="E1067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9814255" y="-548640"/>
            <a:ext cx="2926080" cy="1463040"/>
          </a:xfrm>
          <a:prstGeom prst="rect">
            <a:avLst/>
          </a:prstGeom>
          <a:solidFill>
            <a:srgbClr val="E1067D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731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E10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AI OFFICE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Plan, procure &amp; operate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640080" y="310896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E10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SMB networks — end to end.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640080" y="448056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AI-native platform that turns business requirements into a working network — from sizing and BOM to topology, ordering, deployment and live monitoring.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5989320"/>
            <a:ext cx="10881360" cy="0"/>
          </a:xfrm>
          <a:prstGeom prst="line">
            <a:avLst/>
          </a:prstGeom>
          <a:noFill/>
          <a:ln w="12700">
            <a:solidFill>
              <a:srgbClr val="2A3A5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6126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Deck • 2026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448495" y="6126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spc="300" kern="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48640"/>
          </a:xfrm>
          <a:prstGeom prst="rect">
            <a:avLst/>
          </a:prstGeom>
          <a:solidFill>
            <a:srgbClr val="E1067D"/>
          </a:solidFill>
          <a:ln w="12700">
            <a:solidFill>
              <a:srgbClr val="E1067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02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10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52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SMB networks are still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10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in spreadsheets.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40080" y="26517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small and mid-sized businesses still rely on consultants, MSPs, or trial-and-error to design their office network. The result is slow procurement, mismatched gear, and operational blind spots after deployment.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4023360"/>
            <a:ext cx="35204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4023360"/>
            <a:ext cx="3520440" cy="73152"/>
          </a:xfrm>
          <a:prstGeom prst="rect">
            <a:avLst/>
          </a:prstGeom>
          <a:solidFill>
            <a:srgbClr val="E1067D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429768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152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73%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914400" y="539496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4A5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SMBs delay network upgrades because they don't know what to buy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89120" y="4023360"/>
            <a:ext cx="35204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89120" y="4023360"/>
            <a:ext cx="3520440" cy="73152"/>
          </a:xfrm>
          <a:prstGeom prst="rect">
            <a:avLst/>
          </a:prstGeom>
          <a:solidFill>
            <a:srgbClr val="E1067D"/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0" y="429768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152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wks</a:t>
            </a:r>
            <a:endParaRPr lang="en-US" sz="5600" dirty="0"/>
          </a:p>
        </p:txBody>
      </p:sp>
      <p:sp>
        <p:nvSpPr>
          <p:cNvPr id="14" name="Text 12"/>
          <p:cNvSpPr/>
          <p:nvPr/>
        </p:nvSpPr>
        <p:spPr>
          <a:xfrm>
            <a:off x="4663440" y="539496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4A5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lead time from initial quote to a deployed, working network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38160" y="4023360"/>
            <a:ext cx="35204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38160" y="4023360"/>
            <a:ext cx="3520440" cy="73152"/>
          </a:xfrm>
          <a:prstGeom prst="rect">
            <a:avLst/>
          </a:prstGeom>
          <a:solidFill>
            <a:srgbClr val="E1067D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0" y="429768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152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62%</a:t>
            </a:r>
            <a:endParaRPr lang="en-US" sz="5600" dirty="0"/>
          </a:p>
        </p:txBody>
      </p:sp>
      <p:sp>
        <p:nvSpPr>
          <p:cNvPr id="18" name="Text 16"/>
          <p:cNvSpPr/>
          <p:nvPr/>
        </p:nvSpPr>
        <p:spPr>
          <a:xfrm>
            <a:off x="8412480" y="539496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4A5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SMB IT budgets get spent on hardware that's over- or under-sized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1153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15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AI OFFICE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48640"/>
          </a:xfrm>
          <a:prstGeom prst="rect">
            <a:avLst/>
          </a:prstGeom>
          <a:solidFill>
            <a:srgbClr val="E1067D"/>
          </a:solidFill>
          <a:ln w="12700">
            <a:solidFill>
              <a:srgbClr val="E1067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02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10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52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platform. Four guided steps.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4A5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5-minute business intake to a live network you can monitor — Secure AI Office automates every link in the chain.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834640"/>
            <a:ext cx="2697480" cy="274320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" y="3108960"/>
            <a:ext cx="777240" cy="777240"/>
          </a:xfrm>
          <a:prstGeom prst="ellipse">
            <a:avLst/>
          </a:prstGeom>
          <a:solidFill>
            <a:srgbClr val="E1067D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31089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39776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2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Intake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60120" y="4462272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industry, headcount, sites, security needs in 5 minutes.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474720" y="2834640"/>
            <a:ext cx="2697480" cy="274320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94760" y="3108960"/>
            <a:ext cx="777240" cy="777240"/>
          </a:xfrm>
          <a:prstGeom prst="ellipse">
            <a:avLst/>
          </a:prstGeom>
          <a:solidFill>
            <a:srgbClr val="E1067D"/>
          </a:solidFill>
          <a:ln/>
        </p:spPr>
      </p:sp>
      <p:sp>
        <p:nvSpPr>
          <p:cNvPr id="13" name="Text 11"/>
          <p:cNvSpPr/>
          <p:nvPr/>
        </p:nvSpPr>
        <p:spPr>
          <a:xfrm>
            <a:off x="3794760" y="31089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794760" y="39776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2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Sizing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794760" y="4462272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formulas + AI advisor recommend AP, switch &amp; router counts.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09360" y="2834640"/>
            <a:ext cx="2697480" cy="274320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29400" y="3108960"/>
            <a:ext cx="777240" cy="777240"/>
          </a:xfrm>
          <a:prstGeom prst="ellipse">
            <a:avLst/>
          </a:prstGeom>
          <a:solidFill>
            <a:srgbClr val="E1067D"/>
          </a:solidFill>
          <a:ln/>
        </p:spPr>
      </p:sp>
      <p:sp>
        <p:nvSpPr>
          <p:cNvPr id="18" name="Text 16"/>
          <p:cNvSpPr/>
          <p:nvPr/>
        </p:nvSpPr>
        <p:spPr>
          <a:xfrm>
            <a:off x="6629400" y="31089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629400" y="39776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2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 + Diagram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629400" y="4462272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bill of materials and customer-friendly topology.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144000" y="2834640"/>
            <a:ext cx="2697480" cy="274320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464040" y="3108960"/>
            <a:ext cx="777240" cy="777240"/>
          </a:xfrm>
          <a:prstGeom prst="ellipse">
            <a:avLst/>
          </a:prstGeom>
          <a:solidFill>
            <a:srgbClr val="E1067D"/>
          </a:solidFill>
          <a:ln/>
        </p:spPr>
      </p:sp>
      <p:sp>
        <p:nvSpPr>
          <p:cNvPr id="23" name="Text 21"/>
          <p:cNvSpPr/>
          <p:nvPr/>
        </p:nvSpPr>
        <p:spPr>
          <a:xfrm>
            <a:off x="9464040" y="31089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464040" y="39776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2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&amp; Monitor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464040" y="4462272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cart, vendor fulfillment, and Zabbix-powered live monitoring.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91153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AI OFFICE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48640"/>
          </a:xfrm>
          <a:prstGeom prst="rect">
            <a:avLst/>
          </a:prstGeom>
          <a:solidFill>
            <a:srgbClr val="E1067D"/>
          </a:solidFill>
          <a:ln w="12700">
            <a:solidFill>
              <a:srgbClr val="E1067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02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10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52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customer actually sees.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02920" cy="502920"/>
          </a:xfrm>
          <a:prstGeom prst="ellipse">
            <a:avLst/>
          </a:prstGeom>
          <a:solidFill>
            <a:srgbClr val="E1067D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25880" y="21031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intake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25880" y="239572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forms with industry presets and conditional questions.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816352"/>
            <a:ext cx="502920" cy="502920"/>
          </a:xfrm>
          <a:prstGeom prst="ellipse">
            <a:avLst/>
          </a:prstGeom>
          <a:solidFill>
            <a:srgbClr val="E1067D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8163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25880" y="281635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BOM table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325880" y="31089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Vendor-linked SKUs with real prices and one-click add-to-cart.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529584"/>
            <a:ext cx="502920" cy="502920"/>
          </a:xfrm>
          <a:prstGeom prst="ellipse">
            <a:avLst/>
          </a:prstGeom>
          <a:solidFill>
            <a:srgbClr val="E1067D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5295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25880" y="352958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Topology preview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325880" y="382219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Drawio-rendered diagram so non-technical buyers can sign off.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242816"/>
            <a:ext cx="502920" cy="502920"/>
          </a:xfrm>
          <a:prstGeom prst="ellipse">
            <a:avLst/>
          </a:prstGeom>
          <a:solidFill>
            <a:srgbClr val="E1067D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2428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25880" y="424281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→ quote → order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325880" y="4535424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workflow procurement teams already understand.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4956048"/>
            <a:ext cx="502920" cy="502920"/>
          </a:xfrm>
          <a:prstGeom prst="ellipse">
            <a:avLst/>
          </a:prstGeom>
          <a:solidFill>
            <a:srgbClr val="E1067D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956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25880" y="495604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Post-deploy ops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325880" y="5248656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Zabbix dashboards stitched directly into the customer portal.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035040" y="2103120"/>
            <a:ext cx="54864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35040" y="2103120"/>
            <a:ext cx="5486400" cy="4114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7" name="Shape 25"/>
          <p:cNvSpPr/>
          <p:nvPr/>
        </p:nvSpPr>
        <p:spPr>
          <a:xfrm>
            <a:off x="6199632" y="2221992"/>
            <a:ext cx="164592" cy="164592"/>
          </a:xfrm>
          <a:prstGeom prst="ellipse">
            <a:avLst/>
          </a:prstGeom>
          <a:solidFill>
            <a:srgbClr val="E64C4C"/>
          </a:solidFill>
          <a:ln/>
        </p:spPr>
      </p:sp>
      <p:sp>
        <p:nvSpPr>
          <p:cNvPr id="28" name="Shape 26"/>
          <p:cNvSpPr/>
          <p:nvPr/>
        </p:nvSpPr>
        <p:spPr>
          <a:xfrm>
            <a:off x="6455664" y="2221992"/>
            <a:ext cx="164592" cy="164592"/>
          </a:xfrm>
          <a:prstGeom prst="ellipse">
            <a:avLst/>
          </a:prstGeom>
          <a:solidFill>
            <a:srgbClr val="F1B940"/>
          </a:solidFill>
          <a:ln/>
        </p:spPr>
      </p:sp>
      <p:sp>
        <p:nvSpPr>
          <p:cNvPr id="29" name="Shape 27"/>
          <p:cNvSpPr/>
          <p:nvPr/>
        </p:nvSpPr>
        <p:spPr>
          <a:xfrm>
            <a:off x="6711696" y="2221992"/>
            <a:ext cx="164592" cy="164592"/>
          </a:xfrm>
          <a:prstGeom prst="ellipse">
            <a:avLst/>
          </a:prstGeom>
          <a:solidFill>
            <a:srgbClr val="4DAA59"/>
          </a:solidFill>
          <a:ln/>
        </p:spPr>
      </p:sp>
      <p:sp>
        <p:nvSpPr>
          <p:cNvPr id="30" name="Text 28"/>
          <p:cNvSpPr/>
          <p:nvPr/>
        </p:nvSpPr>
        <p:spPr>
          <a:xfrm>
            <a:off x="7040880" y="2157984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secureaioffice.app/builder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55080" y="26974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Design Builder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355080" y="30175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for Acme Dental — 2 sites, 24 staff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355080" y="3474720"/>
            <a:ext cx="1554480" cy="868680"/>
          </a:xfrm>
          <a:prstGeom prst="roundRect">
            <a:avLst>
              <a:gd name="adj" fmla="val 8421"/>
            </a:avLst>
          </a:prstGeom>
          <a:solidFill>
            <a:srgbClr val="F7F8FB"/>
          </a:solidFill>
          <a:ln w="9525">
            <a:solidFill>
              <a:srgbClr val="D8DD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92240" y="35661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CAPEX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492240" y="382219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2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$8,420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8046720" y="3474720"/>
            <a:ext cx="1554480" cy="868680"/>
          </a:xfrm>
          <a:prstGeom prst="roundRect">
            <a:avLst>
              <a:gd name="adj" fmla="val 8421"/>
            </a:avLst>
          </a:prstGeom>
          <a:solidFill>
            <a:srgbClr val="F7F8FB"/>
          </a:solidFill>
          <a:ln w="9525">
            <a:solidFill>
              <a:srgbClr val="D8DDE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183880" y="35661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COUNT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8183880" y="382219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2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39" name="Shape 37"/>
          <p:cNvSpPr/>
          <p:nvPr/>
        </p:nvSpPr>
        <p:spPr>
          <a:xfrm>
            <a:off x="9738360" y="3474720"/>
            <a:ext cx="1554480" cy="868680"/>
          </a:xfrm>
          <a:prstGeom prst="roundRect">
            <a:avLst>
              <a:gd name="adj" fmla="val 8421"/>
            </a:avLst>
          </a:prstGeom>
          <a:solidFill>
            <a:srgbClr val="F7F8FB"/>
          </a:solidFill>
          <a:ln w="9525">
            <a:solidFill>
              <a:srgbClr val="D8DDE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875520" y="35661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 LINES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9875520" y="382219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2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6355080" y="45720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2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of Materials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355080" y="5202936"/>
            <a:ext cx="4846320" cy="10973"/>
          </a:xfrm>
          <a:prstGeom prst="rect">
            <a:avLst/>
          </a:prstGeom>
          <a:solidFill>
            <a:srgbClr val="D8DDE6"/>
          </a:solidFill>
          <a:ln/>
        </p:spPr>
      </p:sp>
      <p:sp>
        <p:nvSpPr>
          <p:cNvPr id="44" name="Text 42"/>
          <p:cNvSpPr/>
          <p:nvPr/>
        </p:nvSpPr>
        <p:spPr>
          <a:xfrm>
            <a:off x="6355080" y="48920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2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UAP-AC-PRO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9052560" y="489204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Qty 6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10241280" y="489204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52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$1,194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355080" y="5550408"/>
            <a:ext cx="4846320" cy="10973"/>
          </a:xfrm>
          <a:prstGeom prst="rect">
            <a:avLst/>
          </a:prstGeom>
          <a:solidFill>
            <a:srgbClr val="D8DDE6"/>
          </a:solidFill>
          <a:ln/>
        </p:spPr>
      </p:sp>
      <p:sp>
        <p:nvSpPr>
          <p:cNvPr id="48" name="Text 46"/>
          <p:cNvSpPr/>
          <p:nvPr/>
        </p:nvSpPr>
        <p:spPr>
          <a:xfrm>
            <a:off x="6355080" y="523951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2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USW-24-POE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9052560" y="523951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Qty 1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10241280" y="523951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52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$679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355080" y="5623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+ 12 more items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9738360" y="5669280"/>
            <a:ext cx="1463040" cy="457200"/>
          </a:xfrm>
          <a:prstGeom prst="roundRect">
            <a:avLst>
              <a:gd name="adj" fmla="val 16000"/>
            </a:avLst>
          </a:prstGeom>
          <a:solidFill>
            <a:srgbClr val="E1067D"/>
          </a:solidFill>
          <a:ln/>
        </p:spPr>
      </p:sp>
      <p:sp>
        <p:nvSpPr>
          <p:cNvPr id="53" name="Text 51"/>
          <p:cNvSpPr/>
          <p:nvPr/>
        </p:nvSpPr>
        <p:spPr>
          <a:xfrm>
            <a:off x="9738360" y="56692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all to cart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1091153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15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AI OFFICE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48640"/>
          </a:xfrm>
          <a:prstGeom prst="rect">
            <a:avLst/>
          </a:prstGeom>
          <a:solidFill>
            <a:srgbClr val="E1067D"/>
          </a:solidFill>
          <a:ln w="12700">
            <a:solidFill>
              <a:srgbClr val="E1067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02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10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PRODUCT — DESIGN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52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go from blank page to BOM.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landing leads into an AI-assisted intake. Five minutes of answers becomes a sized network design.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606040"/>
            <a:ext cx="5486400" cy="36576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2807208"/>
            <a:ext cx="5084064" cy="29260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8" name="Shape 6"/>
          <p:cNvSpPr/>
          <p:nvPr/>
        </p:nvSpPr>
        <p:spPr>
          <a:xfrm>
            <a:off x="932688" y="2871216"/>
            <a:ext cx="146304" cy="146304"/>
          </a:xfrm>
          <a:prstGeom prst="ellipse">
            <a:avLst/>
          </a:prstGeom>
          <a:solidFill>
            <a:srgbClr val="E64C4C"/>
          </a:solidFill>
          <a:ln/>
        </p:spPr>
      </p:sp>
      <p:sp>
        <p:nvSpPr>
          <p:cNvPr id="9" name="Shape 7"/>
          <p:cNvSpPr/>
          <p:nvPr/>
        </p:nvSpPr>
        <p:spPr>
          <a:xfrm>
            <a:off x="1133856" y="2871216"/>
            <a:ext cx="146304" cy="146304"/>
          </a:xfrm>
          <a:prstGeom prst="ellipse">
            <a:avLst/>
          </a:prstGeom>
          <a:solidFill>
            <a:srgbClr val="F1B940"/>
          </a:solidFill>
          <a:ln/>
        </p:spPr>
      </p:sp>
      <p:sp>
        <p:nvSpPr>
          <p:cNvPr id="10" name="Shape 8"/>
          <p:cNvSpPr/>
          <p:nvPr/>
        </p:nvSpPr>
        <p:spPr>
          <a:xfrm>
            <a:off x="1335024" y="2871216"/>
            <a:ext cx="146304" cy="146304"/>
          </a:xfrm>
          <a:prstGeom prst="ellipse">
            <a:avLst/>
          </a:prstGeom>
          <a:solidFill>
            <a:srgbClr val="4DAA59"/>
          </a:solidFill>
          <a:ln/>
        </p:spPr>
      </p:sp>
      <p:pic>
        <p:nvPicPr>
          <p:cNvPr id="11" name="Image 0" descr="/Users/muskan/SecureOffice2/docs/pitch/shots/hom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41248" y="3099816"/>
            <a:ext cx="5084064" cy="233172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841248" y="5468112"/>
            <a:ext cx="5084064" cy="45720"/>
          </a:xfrm>
          <a:prstGeom prst="rect">
            <a:avLst/>
          </a:prstGeom>
          <a:solidFill>
            <a:srgbClr val="E1067D"/>
          </a:solidFill>
          <a:ln/>
        </p:spPr>
      </p:sp>
      <p:sp>
        <p:nvSpPr>
          <p:cNvPr id="13" name="Text 10"/>
          <p:cNvSpPr/>
          <p:nvPr/>
        </p:nvSpPr>
        <p:spPr>
          <a:xfrm>
            <a:off x="932688" y="55778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10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LANDING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932688" y="58521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impression and clear value proposition.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309360" y="2606040"/>
            <a:ext cx="5486400" cy="36576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510528" y="2807208"/>
            <a:ext cx="5084064" cy="29260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7" name="Shape 14"/>
          <p:cNvSpPr/>
          <p:nvPr/>
        </p:nvSpPr>
        <p:spPr>
          <a:xfrm>
            <a:off x="6601968" y="2871216"/>
            <a:ext cx="146304" cy="146304"/>
          </a:xfrm>
          <a:prstGeom prst="ellipse">
            <a:avLst/>
          </a:prstGeom>
          <a:solidFill>
            <a:srgbClr val="E64C4C"/>
          </a:solidFill>
          <a:ln/>
        </p:spPr>
      </p:sp>
      <p:sp>
        <p:nvSpPr>
          <p:cNvPr id="18" name="Shape 15"/>
          <p:cNvSpPr/>
          <p:nvPr/>
        </p:nvSpPr>
        <p:spPr>
          <a:xfrm>
            <a:off x="6803136" y="2871216"/>
            <a:ext cx="146304" cy="146304"/>
          </a:xfrm>
          <a:prstGeom prst="ellipse">
            <a:avLst/>
          </a:prstGeom>
          <a:solidFill>
            <a:srgbClr val="F1B940"/>
          </a:solidFill>
          <a:ln/>
        </p:spPr>
      </p:sp>
      <p:sp>
        <p:nvSpPr>
          <p:cNvPr id="19" name="Shape 16"/>
          <p:cNvSpPr/>
          <p:nvPr/>
        </p:nvSpPr>
        <p:spPr>
          <a:xfrm>
            <a:off x="7004304" y="2871216"/>
            <a:ext cx="146304" cy="146304"/>
          </a:xfrm>
          <a:prstGeom prst="ellipse">
            <a:avLst/>
          </a:prstGeom>
          <a:solidFill>
            <a:srgbClr val="4DAA59"/>
          </a:solidFill>
          <a:ln/>
        </p:spPr>
      </p:sp>
      <p:pic>
        <p:nvPicPr>
          <p:cNvPr id="20" name="Image 1" descr="/Users/muskan/SecureOffice2/docs/pitch/shots/intak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10528" y="3099816"/>
            <a:ext cx="5084064" cy="2331720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6510528" y="5468112"/>
            <a:ext cx="5084064" cy="45720"/>
          </a:xfrm>
          <a:prstGeom prst="rect">
            <a:avLst/>
          </a:prstGeom>
          <a:solidFill>
            <a:srgbClr val="E1067D"/>
          </a:solidFill>
          <a:ln/>
        </p:spPr>
      </p:sp>
      <p:sp>
        <p:nvSpPr>
          <p:cNvPr id="22" name="Text 18"/>
          <p:cNvSpPr/>
          <p:nvPr/>
        </p:nvSpPr>
        <p:spPr>
          <a:xfrm>
            <a:off x="6601968" y="55778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10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AI-GUIDED INTAKE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6601968" y="58521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 rides along with every form field.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1091153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15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AI OFFICE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48640"/>
          </a:xfrm>
          <a:prstGeom prst="rect">
            <a:avLst/>
          </a:prstGeom>
          <a:solidFill>
            <a:srgbClr val="E1067D"/>
          </a:solidFill>
          <a:ln w="12700">
            <a:solidFill>
              <a:srgbClr val="E1067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02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10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PRODUCT — OPERATE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52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sale, the platform earns its keep.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customer dashboard tracks orders and recurring spend. Managed services flow into the same cart so every device can become a subscription.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697480"/>
            <a:ext cx="5486400" cy="35204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2898648"/>
            <a:ext cx="5084064" cy="29260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8" name="Shape 6"/>
          <p:cNvSpPr/>
          <p:nvPr/>
        </p:nvSpPr>
        <p:spPr>
          <a:xfrm>
            <a:off x="932688" y="2962656"/>
            <a:ext cx="146304" cy="146304"/>
          </a:xfrm>
          <a:prstGeom prst="ellipse">
            <a:avLst/>
          </a:prstGeom>
          <a:solidFill>
            <a:srgbClr val="E64C4C"/>
          </a:solidFill>
          <a:ln/>
        </p:spPr>
      </p:sp>
      <p:sp>
        <p:nvSpPr>
          <p:cNvPr id="9" name="Shape 7"/>
          <p:cNvSpPr/>
          <p:nvPr/>
        </p:nvSpPr>
        <p:spPr>
          <a:xfrm>
            <a:off x="1133856" y="2962656"/>
            <a:ext cx="146304" cy="146304"/>
          </a:xfrm>
          <a:prstGeom prst="ellipse">
            <a:avLst/>
          </a:prstGeom>
          <a:solidFill>
            <a:srgbClr val="F1B940"/>
          </a:solidFill>
          <a:ln/>
        </p:spPr>
      </p:sp>
      <p:sp>
        <p:nvSpPr>
          <p:cNvPr id="10" name="Shape 8"/>
          <p:cNvSpPr/>
          <p:nvPr/>
        </p:nvSpPr>
        <p:spPr>
          <a:xfrm>
            <a:off x="1335024" y="2962656"/>
            <a:ext cx="146304" cy="146304"/>
          </a:xfrm>
          <a:prstGeom prst="ellipse">
            <a:avLst/>
          </a:prstGeom>
          <a:solidFill>
            <a:srgbClr val="4DAA59"/>
          </a:solidFill>
          <a:ln/>
        </p:spPr>
      </p:sp>
      <p:pic>
        <p:nvPicPr>
          <p:cNvPr id="11" name="Image 0" descr="/Users/muskan/SecureOffice2/docs/pitch/shots/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41248" y="3191256"/>
            <a:ext cx="5084064" cy="224028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841248" y="5468112"/>
            <a:ext cx="5084064" cy="45720"/>
          </a:xfrm>
          <a:prstGeom prst="rect">
            <a:avLst/>
          </a:prstGeom>
          <a:solidFill>
            <a:srgbClr val="E1067D"/>
          </a:solidFill>
          <a:ln/>
        </p:spPr>
      </p:sp>
      <p:sp>
        <p:nvSpPr>
          <p:cNvPr id="13" name="Text 10"/>
          <p:cNvSpPr/>
          <p:nvPr/>
        </p:nvSpPr>
        <p:spPr>
          <a:xfrm>
            <a:off x="932688" y="55778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10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DASHBOARD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932688" y="58521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revenue, orders, active subs and recent designs at a glance.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309360" y="2697480"/>
            <a:ext cx="5486400" cy="35204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510528" y="2898648"/>
            <a:ext cx="5084064" cy="29260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7" name="Shape 14"/>
          <p:cNvSpPr/>
          <p:nvPr/>
        </p:nvSpPr>
        <p:spPr>
          <a:xfrm>
            <a:off x="6601968" y="2962656"/>
            <a:ext cx="146304" cy="146304"/>
          </a:xfrm>
          <a:prstGeom prst="ellipse">
            <a:avLst/>
          </a:prstGeom>
          <a:solidFill>
            <a:srgbClr val="E64C4C"/>
          </a:solidFill>
          <a:ln/>
        </p:spPr>
      </p:sp>
      <p:sp>
        <p:nvSpPr>
          <p:cNvPr id="18" name="Shape 15"/>
          <p:cNvSpPr/>
          <p:nvPr/>
        </p:nvSpPr>
        <p:spPr>
          <a:xfrm>
            <a:off x="6803136" y="2962656"/>
            <a:ext cx="146304" cy="146304"/>
          </a:xfrm>
          <a:prstGeom prst="ellipse">
            <a:avLst/>
          </a:prstGeom>
          <a:solidFill>
            <a:srgbClr val="F1B940"/>
          </a:solidFill>
          <a:ln/>
        </p:spPr>
      </p:sp>
      <p:sp>
        <p:nvSpPr>
          <p:cNvPr id="19" name="Shape 16"/>
          <p:cNvSpPr/>
          <p:nvPr/>
        </p:nvSpPr>
        <p:spPr>
          <a:xfrm>
            <a:off x="7004304" y="2962656"/>
            <a:ext cx="146304" cy="146304"/>
          </a:xfrm>
          <a:prstGeom prst="ellipse">
            <a:avLst/>
          </a:prstGeom>
          <a:solidFill>
            <a:srgbClr val="4DAA59"/>
          </a:solidFill>
          <a:ln/>
        </p:spPr>
      </p:sp>
      <p:pic>
        <p:nvPicPr>
          <p:cNvPr id="20" name="Image 1" descr="/Users/muskan/SecureOffice2/docs/pitch/shots/manag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10528" y="3191256"/>
            <a:ext cx="5084064" cy="2240280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6510528" y="5468112"/>
            <a:ext cx="5084064" cy="45720"/>
          </a:xfrm>
          <a:prstGeom prst="rect">
            <a:avLst/>
          </a:prstGeom>
          <a:solidFill>
            <a:srgbClr val="E1067D"/>
          </a:solidFill>
          <a:ln/>
        </p:spPr>
      </p:sp>
      <p:sp>
        <p:nvSpPr>
          <p:cNvPr id="22" name="Text 18"/>
          <p:cNvSpPr/>
          <p:nvPr/>
        </p:nvSpPr>
        <p:spPr>
          <a:xfrm>
            <a:off x="6601968" y="55778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10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SERVICES + CART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6601968" y="58521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Per-device managed pricing rolls into the same checkout flow.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1091153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15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AI OFFICE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48640"/>
          </a:xfrm>
          <a:prstGeom prst="rect">
            <a:avLst/>
          </a:prstGeom>
          <a:solidFill>
            <a:srgbClr val="E1067D"/>
          </a:solidFill>
          <a:ln w="12700">
            <a:solidFill>
              <a:srgbClr val="E1067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02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10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52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pillars, one workflow.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65760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2240280"/>
            <a:ext cx="640080" cy="640080"/>
          </a:xfrm>
          <a:prstGeom prst="ellipse">
            <a:avLst/>
          </a:prstGeom>
          <a:solidFill>
            <a:srgbClr val="E1067D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29718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Intake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33375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4A5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templates, conditional logic and security profiles built in.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462272" y="1965960"/>
            <a:ext cx="365760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82312" y="2240280"/>
            <a:ext cx="640080" cy="640080"/>
          </a:xfrm>
          <a:prstGeom prst="ellipse">
            <a:avLst/>
          </a:prstGeom>
          <a:solidFill>
            <a:srgbClr val="E1067D"/>
          </a:solidFill>
          <a:ln/>
        </p:spPr>
      </p:sp>
      <p:sp>
        <p:nvSpPr>
          <p:cNvPr id="12" name="Text 10"/>
          <p:cNvSpPr/>
          <p:nvPr/>
        </p:nvSpPr>
        <p:spPr>
          <a:xfrm>
            <a:off x="4782312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82312" y="29718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Sizing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782312" y="33375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4A5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Formulas (not vibes) translate headcount + sq ft into AP/switch counts.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284464" y="1965960"/>
            <a:ext cx="365760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04504" y="2240280"/>
            <a:ext cx="640080" cy="640080"/>
          </a:xfrm>
          <a:prstGeom prst="ellipse">
            <a:avLst/>
          </a:prstGeom>
          <a:solidFill>
            <a:srgbClr val="E1067D"/>
          </a:solidFill>
          <a:ln/>
        </p:spPr>
      </p:sp>
      <p:sp>
        <p:nvSpPr>
          <p:cNvPr id="17" name="Text 15"/>
          <p:cNvSpPr/>
          <p:nvPr/>
        </p:nvSpPr>
        <p:spPr>
          <a:xfrm>
            <a:off x="8604504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604504" y="29718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 Generator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604504" y="33375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4A5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Catalog-linked SKUs from real vendors with live pricing.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4050792"/>
            <a:ext cx="365760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60120" y="4325112"/>
            <a:ext cx="640080" cy="640080"/>
          </a:xfrm>
          <a:prstGeom prst="ellipse">
            <a:avLst/>
          </a:prstGeom>
          <a:solidFill>
            <a:srgbClr val="E1067D"/>
          </a:solidFill>
          <a:ln/>
        </p:spPr>
      </p:sp>
      <p:sp>
        <p:nvSpPr>
          <p:cNvPr id="22" name="Text 20"/>
          <p:cNvSpPr/>
          <p:nvPr/>
        </p:nvSpPr>
        <p:spPr>
          <a:xfrm>
            <a:off x="960120" y="43251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60120" y="50566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Topology Diagrams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60120" y="542239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4A5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Drawio export so customers can review and approve visually.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462272" y="4050792"/>
            <a:ext cx="365760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82312" y="4325112"/>
            <a:ext cx="640080" cy="640080"/>
          </a:xfrm>
          <a:prstGeom prst="ellipse">
            <a:avLst/>
          </a:prstGeom>
          <a:solidFill>
            <a:srgbClr val="E1067D"/>
          </a:solidFill>
          <a:ln/>
        </p:spPr>
      </p:sp>
      <p:sp>
        <p:nvSpPr>
          <p:cNvPr id="27" name="Text 25"/>
          <p:cNvSpPr/>
          <p:nvPr/>
        </p:nvSpPr>
        <p:spPr>
          <a:xfrm>
            <a:off x="4782312" y="43251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782312" y="50566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Marketplace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782312" y="542239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4A5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Multi-vendor catalog (CellHub) — sell, fulfill, manage commissions.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284464" y="4050792"/>
            <a:ext cx="365760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604504" y="4325112"/>
            <a:ext cx="640080" cy="640080"/>
          </a:xfrm>
          <a:prstGeom prst="ellipse">
            <a:avLst/>
          </a:prstGeom>
          <a:solidFill>
            <a:srgbClr val="E1067D"/>
          </a:solidFill>
          <a:ln/>
        </p:spPr>
      </p:sp>
      <p:sp>
        <p:nvSpPr>
          <p:cNvPr id="32" name="Text 30"/>
          <p:cNvSpPr/>
          <p:nvPr/>
        </p:nvSpPr>
        <p:spPr>
          <a:xfrm>
            <a:off x="8604504" y="43251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604504" y="50566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Monitoring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604504" y="542239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4A5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Zabbix-powered health dashboards stitched into the customer portal.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1091153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15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AI OFFICE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1067D"/>
          </a:solidFill>
          <a:ln w="12700">
            <a:solidFill>
              <a:srgbClr val="E1067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9814255" y="-548640"/>
            <a:ext cx="2926080" cy="1463040"/>
          </a:xfrm>
          <a:prstGeom prst="rect">
            <a:avLst/>
          </a:prstGeom>
          <a:solidFill>
            <a:srgbClr val="E1067D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E10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AT THE CORE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chatbot bolted on.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10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runs the whole pipeline.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40080" y="31089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from intake to operations is enriched by purpose-built AI: a live consultant avatar, a contextual chatbot, automatic topology synthesis, and intelligent catalog matching against thousands of SKUs.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4297680"/>
            <a:ext cx="2697480" cy="2103120"/>
          </a:xfrm>
          <a:prstGeom prst="roundRect">
            <a:avLst>
              <a:gd name="adj" fmla="val 5217"/>
            </a:avLst>
          </a:prstGeom>
          <a:solidFill>
            <a:srgbClr val="13213A"/>
          </a:solidFill>
          <a:ln w="12700">
            <a:solidFill>
              <a:srgbClr val="2A3A5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4297680"/>
            <a:ext cx="2697480" cy="64008"/>
          </a:xfrm>
          <a:prstGeom prst="rect">
            <a:avLst/>
          </a:prstGeom>
          <a:solidFill>
            <a:srgbClr val="E1067D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46177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Anam Avatar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14400" y="516636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AI consultant walks customers through intake and trade-offs.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474720" y="4297680"/>
            <a:ext cx="2697480" cy="2103120"/>
          </a:xfrm>
          <a:prstGeom prst="roundRect">
            <a:avLst>
              <a:gd name="adj" fmla="val 5217"/>
            </a:avLst>
          </a:prstGeom>
          <a:solidFill>
            <a:srgbClr val="13213A"/>
          </a:solidFill>
          <a:ln w="12700">
            <a:solidFill>
              <a:srgbClr val="2A3A5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74720" y="4297680"/>
            <a:ext cx="2697480" cy="64008"/>
          </a:xfrm>
          <a:prstGeom prst="rect">
            <a:avLst/>
          </a:prstGeom>
          <a:solidFill>
            <a:srgbClr val="E1067D"/>
          </a:solidFill>
          <a:ln/>
        </p:spPr>
      </p:sp>
      <p:sp>
        <p:nvSpPr>
          <p:cNvPr id="14" name="Text 12"/>
          <p:cNvSpPr/>
          <p:nvPr/>
        </p:nvSpPr>
        <p:spPr>
          <a:xfrm>
            <a:off x="3749040" y="46177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Chatbot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749040" y="516636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product, pricing and topology questions in-page.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09360" y="4297680"/>
            <a:ext cx="2697480" cy="2103120"/>
          </a:xfrm>
          <a:prstGeom prst="roundRect">
            <a:avLst>
              <a:gd name="adj" fmla="val 5217"/>
            </a:avLst>
          </a:prstGeom>
          <a:solidFill>
            <a:srgbClr val="13213A"/>
          </a:solidFill>
          <a:ln w="12700">
            <a:solidFill>
              <a:srgbClr val="2A3A5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09360" y="4297680"/>
            <a:ext cx="2697480" cy="64008"/>
          </a:xfrm>
          <a:prstGeom prst="rect">
            <a:avLst/>
          </a:prstGeom>
          <a:solidFill>
            <a:srgbClr val="E1067D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0" y="46177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Topology Synthesis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583680" y="516636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assembles a Drawio diagram from raw BOM data.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144000" y="4297680"/>
            <a:ext cx="2697480" cy="2103120"/>
          </a:xfrm>
          <a:prstGeom prst="roundRect">
            <a:avLst>
              <a:gd name="adj" fmla="val 5217"/>
            </a:avLst>
          </a:prstGeom>
          <a:solidFill>
            <a:srgbClr val="13213A"/>
          </a:solidFill>
          <a:ln w="12700">
            <a:solidFill>
              <a:srgbClr val="2A3A5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44000" y="4297680"/>
            <a:ext cx="2697480" cy="64008"/>
          </a:xfrm>
          <a:prstGeom prst="rect">
            <a:avLst/>
          </a:prstGeom>
          <a:solidFill>
            <a:srgbClr val="E1067D"/>
          </a:solidFill>
          <a:ln/>
        </p:spPr>
      </p:sp>
      <p:sp>
        <p:nvSpPr>
          <p:cNvPr id="22" name="Text 20"/>
          <p:cNvSpPr/>
          <p:nvPr/>
        </p:nvSpPr>
        <p:spPr>
          <a:xfrm>
            <a:off x="9418320" y="46177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Matching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418320" y="516636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map fuzzy requirements to real vendor SKUs.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91153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AI OFFICE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48640"/>
          </a:xfrm>
          <a:prstGeom prst="rect">
            <a:avLst/>
          </a:prstGeom>
          <a:solidFill>
            <a:srgbClr val="E1067D"/>
          </a:solidFill>
          <a:ln w="12700">
            <a:solidFill>
              <a:srgbClr val="E1067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02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10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DESIGN FLOW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52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design with AI, not against it.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Assistant rides along through every step — interpreting answers, suggesting hardware, generating diagrams, and explaining trade-offs in plain English.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606040"/>
            <a:ext cx="512064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" y="2770632"/>
            <a:ext cx="4791456" cy="29260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8" name="Shape 6"/>
          <p:cNvSpPr/>
          <p:nvPr/>
        </p:nvSpPr>
        <p:spPr>
          <a:xfrm>
            <a:off x="886968" y="2834640"/>
            <a:ext cx="146304" cy="146304"/>
          </a:xfrm>
          <a:prstGeom prst="ellipse">
            <a:avLst/>
          </a:prstGeom>
          <a:solidFill>
            <a:srgbClr val="E64C4C"/>
          </a:solidFill>
          <a:ln/>
        </p:spPr>
      </p:sp>
      <p:sp>
        <p:nvSpPr>
          <p:cNvPr id="9" name="Shape 7"/>
          <p:cNvSpPr/>
          <p:nvPr/>
        </p:nvSpPr>
        <p:spPr>
          <a:xfrm>
            <a:off x="1088136" y="2834640"/>
            <a:ext cx="146304" cy="146304"/>
          </a:xfrm>
          <a:prstGeom prst="ellipse">
            <a:avLst/>
          </a:prstGeom>
          <a:solidFill>
            <a:srgbClr val="F1B940"/>
          </a:solidFill>
          <a:ln/>
        </p:spPr>
      </p:sp>
      <p:sp>
        <p:nvSpPr>
          <p:cNvPr id="10" name="Shape 8"/>
          <p:cNvSpPr/>
          <p:nvPr/>
        </p:nvSpPr>
        <p:spPr>
          <a:xfrm>
            <a:off x="1289304" y="2834640"/>
            <a:ext cx="146304" cy="146304"/>
          </a:xfrm>
          <a:prstGeom prst="ellipse">
            <a:avLst/>
          </a:prstGeom>
          <a:solidFill>
            <a:srgbClr val="4DAA59"/>
          </a:solidFill>
          <a:ln/>
        </p:spPr>
      </p:sp>
      <p:pic>
        <p:nvPicPr>
          <p:cNvPr id="11" name="Image 0" descr="/Users/muskan/SecureOffice2/docs/pitch/shots/intak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4672" y="3063240"/>
            <a:ext cx="4791456" cy="26060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40080" y="59436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AI Assistant in production today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989320" y="2697480"/>
            <a:ext cx="594360" cy="594360"/>
          </a:xfrm>
          <a:prstGeom prst="ellipse">
            <a:avLst/>
          </a:prstGeom>
          <a:solidFill>
            <a:srgbClr val="E1067D"/>
          </a:solidFill>
          <a:ln/>
        </p:spPr>
      </p:sp>
      <p:sp>
        <p:nvSpPr>
          <p:cNvPr id="14" name="Text 11"/>
          <p:cNvSpPr/>
          <p:nvPr/>
        </p:nvSpPr>
        <p:spPr>
          <a:xfrm>
            <a:off x="5989320" y="26974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6286500" y="3291840"/>
            <a:ext cx="0" cy="320040"/>
          </a:xfrm>
          <a:prstGeom prst="line">
            <a:avLst/>
          </a:prstGeom>
          <a:noFill/>
          <a:ln w="19050">
            <a:solidFill>
              <a:srgbClr val="D8DDE6"/>
            </a:solidFill>
            <a:prstDash val="dash"/>
          </a:ln>
        </p:spPr>
      </p:sp>
      <p:sp>
        <p:nvSpPr>
          <p:cNvPr id="16" name="Text 13"/>
          <p:cNvSpPr/>
          <p:nvPr/>
        </p:nvSpPr>
        <p:spPr>
          <a:xfrm>
            <a:off x="6766560" y="26517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in plain English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766560" y="301752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4A5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types or speaks their requirements. AI fills the structured form behind the scenes.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989320" y="3611880"/>
            <a:ext cx="594360" cy="594360"/>
          </a:xfrm>
          <a:prstGeom prst="ellipse">
            <a:avLst/>
          </a:prstGeom>
          <a:solidFill>
            <a:srgbClr val="E1067D"/>
          </a:solidFill>
          <a:ln/>
        </p:spPr>
      </p:sp>
      <p:sp>
        <p:nvSpPr>
          <p:cNvPr id="19" name="Text 16"/>
          <p:cNvSpPr/>
          <p:nvPr/>
        </p:nvSpPr>
        <p:spPr>
          <a:xfrm>
            <a:off x="5989320" y="36118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6286500" y="4206240"/>
            <a:ext cx="0" cy="320040"/>
          </a:xfrm>
          <a:prstGeom prst="line">
            <a:avLst/>
          </a:prstGeom>
          <a:noFill/>
          <a:ln w="19050">
            <a:solidFill>
              <a:srgbClr val="D8DDE6"/>
            </a:solidFill>
            <a:prstDash val="dash"/>
          </a:ln>
        </p:spPr>
      </p:sp>
      <p:sp>
        <p:nvSpPr>
          <p:cNvPr id="21" name="Text 18"/>
          <p:cNvSpPr/>
          <p:nvPr/>
        </p:nvSpPr>
        <p:spPr>
          <a:xfrm>
            <a:off x="6766560" y="35661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sizes the network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766560" y="393192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4A5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Recommends AP, switch, router and security counts based on industry, headcount, square footage.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5989320" y="4526280"/>
            <a:ext cx="594360" cy="594360"/>
          </a:xfrm>
          <a:prstGeom prst="ellipse">
            <a:avLst/>
          </a:prstGeom>
          <a:solidFill>
            <a:srgbClr val="E1067D"/>
          </a:solidFill>
          <a:ln/>
        </p:spPr>
      </p:sp>
      <p:sp>
        <p:nvSpPr>
          <p:cNvPr id="24" name="Text 21"/>
          <p:cNvSpPr/>
          <p:nvPr/>
        </p:nvSpPr>
        <p:spPr>
          <a:xfrm>
            <a:off x="5989320" y="45262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6286500" y="5120640"/>
            <a:ext cx="0" cy="320040"/>
          </a:xfrm>
          <a:prstGeom prst="line">
            <a:avLst/>
          </a:prstGeom>
          <a:noFill/>
          <a:ln w="19050">
            <a:solidFill>
              <a:srgbClr val="D8DDE6"/>
            </a:solidFill>
            <a:prstDash val="dash"/>
          </a:ln>
        </p:spPr>
      </p:sp>
      <p:sp>
        <p:nvSpPr>
          <p:cNvPr id="26" name="Text 23"/>
          <p:cNvSpPr/>
          <p:nvPr/>
        </p:nvSpPr>
        <p:spPr>
          <a:xfrm>
            <a:off x="6766560" y="44805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builds the topology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6766560" y="484632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4A5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a Drawio network diagram from the BOM — placement, links, labels, all auto-laid-out.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5989320" y="5440680"/>
            <a:ext cx="594360" cy="594360"/>
          </a:xfrm>
          <a:prstGeom prst="ellipse">
            <a:avLst/>
          </a:prstGeom>
          <a:solidFill>
            <a:srgbClr val="E1067D"/>
          </a:solidFill>
          <a:ln/>
        </p:spPr>
      </p:sp>
      <p:sp>
        <p:nvSpPr>
          <p:cNvPr id="29" name="Text 26"/>
          <p:cNvSpPr/>
          <p:nvPr/>
        </p:nvSpPr>
        <p:spPr>
          <a:xfrm>
            <a:off x="5989320" y="54406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6766560" y="53949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explains and adjusts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6766560" y="576072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4A5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can ask 'why this AP model?' or 'what if I add a second site?' and AI revises live.</a:t>
            </a:r>
            <a:endParaRPr lang="en-US" sz="1150" dirty="0"/>
          </a:p>
        </p:txBody>
      </p:sp>
      <p:sp>
        <p:nvSpPr>
          <p:cNvPr id="32" name="Text 29"/>
          <p:cNvSpPr/>
          <p:nvPr/>
        </p:nvSpPr>
        <p:spPr>
          <a:xfrm>
            <a:off x="1091153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15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AI OFFICE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48640"/>
          </a:xfrm>
          <a:prstGeom prst="rect">
            <a:avLst/>
          </a:prstGeom>
          <a:solidFill>
            <a:srgbClr val="E1067D"/>
          </a:solidFill>
          <a:ln w="12700">
            <a:solidFill>
              <a:srgbClr val="E1067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02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10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52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the long tail.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5486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0" b="1" dirty="0">
                <a:solidFill>
                  <a:srgbClr val="E10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33.2M</a:t>
            </a:r>
            <a:endParaRPr lang="en-US" sz="14000" dirty="0"/>
          </a:p>
        </p:txBody>
      </p:sp>
      <p:sp>
        <p:nvSpPr>
          <p:cNvPr id="6" name="Text 4"/>
          <p:cNvSpPr/>
          <p:nvPr/>
        </p:nvSpPr>
        <p:spPr>
          <a:xfrm>
            <a:off x="640080" y="41605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2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small businesses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461772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one needs a network. Almost none of them have a dedicated network engineer.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1945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Wedge: under-served office segments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675120" y="25146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 deterministic builder + AI consultant beats hiring an MSP.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675120" y="31089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2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services (1–50)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332720" y="31089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10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12.6M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675120" y="3383280"/>
            <a:ext cx="4846320" cy="274320"/>
          </a:xfrm>
          <a:prstGeom prst="roundRect">
            <a:avLst>
              <a:gd name="adj" fmla="val 13333"/>
            </a:avLst>
          </a:prstGeom>
          <a:solidFill>
            <a:srgbClr val="E3E7EE"/>
          </a:solidFill>
          <a:ln/>
        </p:spPr>
      </p:sp>
      <p:sp>
        <p:nvSpPr>
          <p:cNvPr id="13" name="Shape 11"/>
          <p:cNvSpPr/>
          <p:nvPr/>
        </p:nvSpPr>
        <p:spPr>
          <a:xfrm>
            <a:off x="6675120" y="3383280"/>
            <a:ext cx="1841602" cy="274320"/>
          </a:xfrm>
          <a:prstGeom prst="roundRect">
            <a:avLst>
              <a:gd name="adj" fmla="val 13333"/>
            </a:avLst>
          </a:prstGeom>
          <a:solidFill>
            <a:srgbClr val="E1067D"/>
          </a:solidFill>
          <a:ln/>
        </p:spPr>
      </p:sp>
      <p:sp>
        <p:nvSpPr>
          <p:cNvPr id="14" name="Text 12"/>
          <p:cNvSpPr/>
          <p:nvPr/>
        </p:nvSpPr>
        <p:spPr>
          <a:xfrm>
            <a:off x="6675120" y="36118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2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&amp; hospitality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332720" y="361188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10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7.3M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675120" y="3886200"/>
            <a:ext cx="4846320" cy="274320"/>
          </a:xfrm>
          <a:prstGeom prst="roundRect">
            <a:avLst>
              <a:gd name="adj" fmla="val 13333"/>
            </a:avLst>
          </a:prstGeom>
          <a:solidFill>
            <a:srgbClr val="E3E7EE"/>
          </a:solidFill>
          <a:ln/>
        </p:spPr>
      </p:sp>
      <p:sp>
        <p:nvSpPr>
          <p:cNvPr id="17" name="Shape 15"/>
          <p:cNvSpPr/>
          <p:nvPr/>
        </p:nvSpPr>
        <p:spPr>
          <a:xfrm>
            <a:off x="6675120" y="3886200"/>
            <a:ext cx="1066190" cy="274320"/>
          </a:xfrm>
          <a:prstGeom prst="roundRect">
            <a:avLst>
              <a:gd name="adj" fmla="val 13333"/>
            </a:avLst>
          </a:prstGeom>
          <a:solidFill>
            <a:srgbClr val="E1067D"/>
          </a:solidFill>
          <a:ln/>
        </p:spPr>
      </p:sp>
      <p:sp>
        <p:nvSpPr>
          <p:cNvPr id="18" name="Text 16"/>
          <p:cNvSpPr/>
          <p:nvPr/>
        </p:nvSpPr>
        <p:spPr>
          <a:xfrm>
            <a:off x="6675120" y="41148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2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&amp; wellness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332720" y="41148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10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4.6M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75120" y="4389120"/>
            <a:ext cx="4846320" cy="274320"/>
          </a:xfrm>
          <a:prstGeom prst="roundRect">
            <a:avLst>
              <a:gd name="adj" fmla="val 13333"/>
            </a:avLst>
          </a:prstGeom>
          <a:solidFill>
            <a:srgbClr val="E3E7EE"/>
          </a:solidFill>
          <a:ln/>
        </p:spPr>
      </p:sp>
      <p:sp>
        <p:nvSpPr>
          <p:cNvPr id="21" name="Shape 19"/>
          <p:cNvSpPr/>
          <p:nvPr/>
        </p:nvSpPr>
        <p:spPr>
          <a:xfrm>
            <a:off x="6675120" y="4389120"/>
            <a:ext cx="678485" cy="274320"/>
          </a:xfrm>
          <a:prstGeom prst="roundRect">
            <a:avLst>
              <a:gd name="adj" fmla="val 13333"/>
            </a:avLst>
          </a:prstGeom>
          <a:solidFill>
            <a:srgbClr val="E1067D"/>
          </a:solidFill>
          <a:ln/>
        </p:spPr>
      </p:sp>
      <p:sp>
        <p:nvSpPr>
          <p:cNvPr id="22" name="Text 20"/>
          <p:cNvSpPr/>
          <p:nvPr/>
        </p:nvSpPr>
        <p:spPr>
          <a:xfrm>
            <a:off x="6675120" y="46177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2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Trades &amp; manufacturing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332720" y="46177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10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5.9M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675120" y="4892040"/>
            <a:ext cx="4846320" cy="274320"/>
          </a:xfrm>
          <a:prstGeom prst="roundRect">
            <a:avLst>
              <a:gd name="adj" fmla="val 13333"/>
            </a:avLst>
          </a:prstGeom>
          <a:solidFill>
            <a:srgbClr val="E3E7EE"/>
          </a:solidFill>
          <a:ln/>
        </p:spPr>
      </p:sp>
      <p:sp>
        <p:nvSpPr>
          <p:cNvPr id="25" name="Shape 23"/>
          <p:cNvSpPr/>
          <p:nvPr/>
        </p:nvSpPr>
        <p:spPr>
          <a:xfrm>
            <a:off x="6675120" y="4892040"/>
            <a:ext cx="872338" cy="274320"/>
          </a:xfrm>
          <a:prstGeom prst="roundRect">
            <a:avLst>
              <a:gd name="adj" fmla="val 13333"/>
            </a:avLst>
          </a:prstGeom>
          <a:solidFill>
            <a:srgbClr val="E1067D"/>
          </a:solidFill>
          <a:ln/>
        </p:spPr>
      </p:sp>
      <p:sp>
        <p:nvSpPr>
          <p:cNvPr id="26" name="Text 24"/>
          <p:cNvSpPr/>
          <p:nvPr/>
        </p:nvSpPr>
        <p:spPr>
          <a:xfrm>
            <a:off x="6675120" y="51206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2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332720" y="51206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10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2.8M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675120" y="5394960"/>
            <a:ext cx="4846320" cy="274320"/>
          </a:xfrm>
          <a:prstGeom prst="roundRect">
            <a:avLst>
              <a:gd name="adj" fmla="val 13333"/>
            </a:avLst>
          </a:prstGeom>
          <a:solidFill>
            <a:srgbClr val="E3E7EE"/>
          </a:solidFill>
          <a:ln/>
        </p:spPr>
      </p:sp>
      <p:sp>
        <p:nvSpPr>
          <p:cNvPr id="29" name="Shape 27"/>
          <p:cNvSpPr/>
          <p:nvPr/>
        </p:nvSpPr>
        <p:spPr>
          <a:xfrm>
            <a:off x="6675120" y="5394960"/>
            <a:ext cx="387706" cy="274320"/>
          </a:xfrm>
          <a:prstGeom prst="roundRect">
            <a:avLst>
              <a:gd name="adj" fmla="val 13333"/>
            </a:avLst>
          </a:prstGeom>
          <a:solidFill>
            <a:srgbClr val="E1067D"/>
          </a:solidFill>
          <a:ln/>
        </p:spPr>
      </p:sp>
      <p:sp>
        <p:nvSpPr>
          <p:cNvPr id="30" name="Text 28"/>
          <p:cNvSpPr/>
          <p:nvPr/>
        </p:nvSpPr>
        <p:spPr>
          <a:xfrm>
            <a:off x="1091153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AI OFFICE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48640"/>
          </a:xfrm>
          <a:prstGeom prst="rect">
            <a:avLst/>
          </a:prstGeom>
          <a:solidFill>
            <a:srgbClr val="E1067D"/>
          </a:solidFill>
          <a:ln w="12700">
            <a:solidFill>
              <a:srgbClr val="E1067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02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10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52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ways we make money.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4A5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SaaS subscription gets businesses planning. A marketplace fee captures procurement. Managed services lock in long-term recurring revenue.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697480"/>
            <a:ext cx="3657600" cy="36576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9718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10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0120" y="32918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52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960120" y="42062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60120" y="4572000"/>
            <a:ext cx="3017520" cy="0"/>
          </a:xfrm>
          <a:prstGeom prst="line">
            <a:avLst/>
          </a:prstGeom>
          <a:noFill/>
          <a:ln w="12700">
            <a:solidFill>
              <a:srgbClr val="D8DD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470916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10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88720" y="470916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2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intake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5038344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10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5038344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2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 preview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536752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10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88720" y="536752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2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design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" y="5696712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10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88720" y="569671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2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support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462272" y="2697480"/>
            <a:ext cx="3657600" cy="3657600"/>
          </a:xfrm>
          <a:prstGeom prst="roundRect">
            <a:avLst>
              <a:gd name="adj" fmla="val 3500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48272" y="2514600"/>
            <a:ext cx="1280160" cy="365760"/>
          </a:xfrm>
          <a:prstGeom prst="roundRect">
            <a:avLst>
              <a:gd name="adj" fmla="val 15000"/>
            </a:avLst>
          </a:prstGeom>
          <a:solidFill>
            <a:srgbClr val="E1067D"/>
          </a:solidFill>
          <a:ln/>
        </p:spPr>
      </p:sp>
      <p:sp>
        <p:nvSpPr>
          <p:cNvPr id="21" name="Text 19"/>
          <p:cNvSpPr/>
          <p:nvPr/>
        </p:nvSpPr>
        <p:spPr>
          <a:xfrm>
            <a:off x="6748272" y="25146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82312" y="29718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10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82312" y="32918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$79</a:t>
            </a:r>
            <a:endParaRPr lang="en-US" sz="4400" dirty="0"/>
          </a:p>
        </p:txBody>
      </p:sp>
      <p:sp>
        <p:nvSpPr>
          <p:cNvPr id="24" name="Text 22"/>
          <p:cNvSpPr/>
          <p:nvPr/>
        </p:nvSpPr>
        <p:spPr>
          <a:xfrm>
            <a:off x="4782312" y="42062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office, per month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82312" y="4572000"/>
            <a:ext cx="3017520" cy="0"/>
          </a:xfrm>
          <a:prstGeom prst="line">
            <a:avLst/>
          </a:prstGeom>
          <a:noFill/>
          <a:ln w="12700">
            <a:solidFill>
              <a:srgbClr val="2A3A5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82312" y="470916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10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010912" y="470916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designs &amp; sites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782312" y="5038344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10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010912" y="5038344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checkout &amp; quotes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782312" y="536752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10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010912" y="536752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topology export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782312" y="5696712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10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010912" y="569671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+ chat support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284464" y="2697480"/>
            <a:ext cx="3657600" cy="36576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604504" y="29718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10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604504" y="32918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52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</a:t>
            </a:r>
            <a:endParaRPr lang="en-US" sz="4400" dirty="0"/>
          </a:p>
        </p:txBody>
      </p:sp>
      <p:sp>
        <p:nvSpPr>
          <p:cNvPr id="37" name="Text 35"/>
          <p:cNvSpPr/>
          <p:nvPr/>
        </p:nvSpPr>
        <p:spPr>
          <a:xfrm>
            <a:off x="8604504" y="42062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contract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604504" y="4572000"/>
            <a:ext cx="3017520" cy="0"/>
          </a:xfrm>
          <a:prstGeom prst="line">
            <a:avLst/>
          </a:prstGeom>
          <a:noFill/>
          <a:ln w="12700">
            <a:solidFill>
              <a:srgbClr val="D8DDE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604504" y="470916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10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8833104" y="470916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2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org accounts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604504" y="5038344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10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8833104" y="5038344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2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services included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8604504" y="536752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10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8833104" y="536752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2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CSM + SLA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8604504" y="5696712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10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8833104" y="569671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2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 Zabbix integration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1091153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AI OFFICE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48640"/>
          </a:xfrm>
          <a:prstGeom prst="rect">
            <a:avLst/>
          </a:prstGeom>
          <a:solidFill>
            <a:srgbClr val="E1067D"/>
          </a:solidFill>
          <a:ln w="12700">
            <a:solidFill>
              <a:srgbClr val="E1067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02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10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 &amp; ROADMAP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52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fast, with a clear path.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352044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920240"/>
            <a:ext cx="73152" cy="1097280"/>
          </a:xfrm>
          <a:prstGeom prst="rect">
            <a:avLst/>
          </a:prstGeom>
          <a:solidFill>
            <a:srgbClr val="E1067D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99339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2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914400" y="24688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 Q1 2026 — full intake → BOM → diagram → cart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43400" y="1920240"/>
            <a:ext cx="352044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43400" y="1920240"/>
            <a:ext cx="73152" cy="1097280"/>
          </a:xfrm>
          <a:prstGeom prst="rect">
            <a:avLst/>
          </a:prstGeom>
          <a:solidFill>
            <a:srgbClr val="E1067D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199339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2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120+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617720" y="24688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offices currently designed in the system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46720" y="1920240"/>
            <a:ext cx="352044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6720" y="1920240"/>
            <a:ext cx="73152" cy="1097280"/>
          </a:xfrm>
          <a:prstGeom prst="rect">
            <a:avLst/>
          </a:prstGeom>
          <a:solidFill>
            <a:srgbClr val="E1067D"/>
          </a:solidFill>
          <a:ln/>
        </p:spPr>
      </p:sp>
      <p:sp>
        <p:nvSpPr>
          <p:cNvPr id="15" name="Text 13"/>
          <p:cNvSpPr/>
          <p:nvPr/>
        </p:nvSpPr>
        <p:spPr>
          <a:xfrm>
            <a:off x="8321040" y="199339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2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8321040" y="24688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Vendors active in the marketplace catalog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3383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roadmap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783080" y="4389120"/>
            <a:ext cx="8641080" cy="0"/>
          </a:xfrm>
          <a:prstGeom prst="line">
            <a:avLst/>
          </a:prstGeom>
          <a:noFill/>
          <a:ln w="25400">
            <a:solidFill>
              <a:srgbClr val="D8DDE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18488" y="4224528"/>
            <a:ext cx="329184" cy="329184"/>
          </a:xfrm>
          <a:prstGeom prst="ellipse">
            <a:avLst/>
          </a:prstGeom>
          <a:solidFill>
            <a:srgbClr val="E1067D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37490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E10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'26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7091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onboarding flow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516636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A5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Self-serve vendor portal + commission engine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498848" y="4224528"/>
            <a:ext cx="329184" cy="329184"/>
          </a:xfrm>
          <a:prstGeom prst="ellipse">
            <a:avLst/>
          </a:prstGeom>
          <a:solidFill>
            <a:srgbClr val="E1067D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86200" y="37490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E10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'26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337560" y="47091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ops monitoring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337560" y="516636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A5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Zabbix integration generally available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379208" y="4224528"/>
            <a:ext cx="329184" cy="329184"/>
          </a:xfrm>
          <a:prstGeom prst="ellipse">
            <a:avLst/>
          </a:prstGeom>
          <a:solidFill>
            <a:srgbClr val="E1067D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66560" y="37490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E10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'26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17920" y="47091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orgs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217920" y="516636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A5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MSPs manage multiple customers from one console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0259568" y="4224528"/>
            <a:ext cx="329184" cy="329184"/>
          </a:xfrm>
          <a:prstGeom prst="ellipse">
            <a:avLst/>
          </a:prstGeom>
          <a:solidFill>
            <a:srgbClr val="E1067D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646920" y="37490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E10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'27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098280" y="47091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deployment runbook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098280" y="516636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A5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 install scripts and configs from BOM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091153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AI OFFICE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48640"/>
          </a:xfrm>
          <a:prstGeom prst="rect">
            <a:avLst/>
          </a:prstGeom>
          <a:solidFill>
            <a:srgbClr val="E1067D"/>
          </a:solidFill>
          <a:ln w="12700">
            <a:solidFill>
              <a:srgbClr val="E1067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02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10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WIN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143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52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than an MSP, smarter than DIY.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53212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965960"/>
            <a:ext cx="91440" cy="1874520"/>
          </a:xfrm>
          <a:prstGeom prst="rect">
            <a:avLst/>
          </a:prstGeom>
          <a:solidFill>
            <a:srgbClr val="E1067D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219456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Traditional MSP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697480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4A5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deliver a finished BOM in minutes, not weeks. Customers stay in control instead of waiting for an account manager.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55080" y="1965960"/>
            <a:ext cx="553212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55080" y="1965960"/>
            <a:ext cx="91440" cy="1874520"/>
          </a:xfrm>
          <a:prstGeom prst="rect">
            <a:avLst/>
          </a:prstGeom>
          <a:solidFill>
            <a:srgbClr val="E1067D"/>
          </a:solidFill>
          <a:ln/>
        </p:spPr>
      </p:sp>
      <p:sp>
        <p:nvSpPr>
          <p:cNvPr id="11" name="Text 9"/>
          <p:cNvSpPr/>
          <p:nvPr/>
        </p:nvSpPr>
        <p:spPr>
          <a:xfrm>
            <a:off x="6766560" y="219456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DIY (spreadsheets + reseller)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766560" y="2697480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4A5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sizing prevents over-/under-buying. Customers don't need to learn networking jargon.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4023360"/>
            <a:ext cx="553212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4023360"/>
            <a:ext cx="91440" cy="1874520"/>
          </a:xfrm>
          <a:prstGeom prst="rect">
            <a:avLst/>
          </a:prstGeom>
          <a:solidFill>
            <a:srgbClr val="E1067D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425196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Vendor configurators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51560" y="4754880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4A5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vendor-agnostic. Best-fit hardware from a multi-vendor catalog, not whatever the rep is selling.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355080" y="4023360"/>
            <a:ext cx="553212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55080" y="4023360"/>
            <a:ext cx="91440" cy="1874520"/>
          </a:xfrm>
          <a:prstGeom prst="rect">
            <a:avLst/>
          </a:prstGeom>
          <a:solidFill>
            <a:srgbClr val="E1067D"/>
          </a:solidFill>
          <a:ln/>
        </p:spPr>
      </p:sp>
      <p:sp>
        <p:nvSpPr>
          <p:cNvPr id="19" name="Text 17"/>
          <p:cNvSpPr/>
          <p:nvPr/>
        </p:nvSpPr>
        <p:spPr>
          <a:xfrm>
            <a:off x="6766560" y="425196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Generic AI chatbots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766560" y="4754880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4A5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close the loop — AI doesn't just suggest, it generates a real BOM, real diagram and a real order.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091153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AI OFFICE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48640"/>
          </a:xfrm>
          <a:prstGeom prst="rect">
            <a:avLst/>
          </a:prstGeom>
          <a:solidFill>
            <a:srgbClr val="E1067D"/>
          </a:solidFill>
          <a:ln w="12700">
            <a:solidFill>
              <a:srgbClr val="E1067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02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10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143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52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who have shipped this before.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3657600" cy="36576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91640" y="2606040"/>
            <a:ext cx="1554480" cy="1554480"/>
          </a:xfrm>
          <a:prstGeom prst="ellipse">
            <a:avLst/>
          </a:prstGeom>
          <a:solidFill>
            <a:srgbClr val="E1067D"/>
          </a:solidFill>
          <a:ln/>
        </p:spPr>
      </p:sp>
      <p:sp>
        <p:nvSpPr>
          <p:cNvPr id="7" name="Text 5"/>
          <p:cNvSpPr/>
          <p:nvPr/>
        </p:nvSpPr>
        <p:spPr>
          <a:xfrm>
            <a:off x="1691640" y="260604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914400" y="42976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52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Muskan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14400" y="47091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E10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 &amp; Co-Founder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50749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A5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the AI pipeline — intake, sizing, topology synthesis. Previously AI engineer at Sensitek.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80560" y="2194560"/>
            <a:ext cx="3657600" cy="36576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532120" y="2606040"/>
            <a:ext cx="1554480" cy="1554480"/>
          </a:xfrm>
          <a:prstGeom prst="ellipse">
            <a:avLst/>
          </a:prstGeom>
          <a:solidFill>
            <a:srgbClr val="E1067D"/>
          </a:solidFill>
          <a:ln/>
        </p:spPr>
      </p:sp>
      <p:sp>
        <p:nvSpPr>
          <p:cNvPr id="13" name="Text 11"/>
          <p:cNvSpPr/>
          <p:nvPr/>
        </p:nvSpPr>
        <p:spPr>
          <a:xfrm>
            <a:off x="5532120" y="260604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5000" dirty="0"/>
          </a:p>
        </p:txBody>
      </p:sp>
      <p:sp>
        <p:nvSpPr>
          <p:cNvPr id="14" name="Text 12"/>
          <p:cNvSpPr/>
          <p:nvPr/>
        </p:nvSpPr>
        <p:spPr>
          <a:xfrm>
            <a:off x="4754880" y="42976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52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Co-founder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754880" y="47091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E10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54880" y="50749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A5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platform, vendor marketplace and Zabbix monitoring integration.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321040" y="2194560"/>
            <a:ext cx="3657600" cy="36576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372600" y="2606040"/>
            <a:ext cx="1554480" cy="1554480"/>
          </a:xfrm>
          <a:prstGeom prst="ellipse">
            <a:avLst/>
          </a:prstGeom>
          <a:solidFill>
            <a:srgbClr val="E1067D"/>
          </a:solidFill>
          <a:ln/>
        </p:spPr>
      </p:sp>
      <p:sp>
        <p:nvSpPr>
          <p:cNvPr id="19" name="Text 17"/>
          <p:cNvSpPr/>
          <p:nvPr/>
        </p:nvSpPr>
        <p:spPr>
          <a:xfrm>
            <a:off x="9372600" y="260604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5000" dirty="0"/>
          </a:p>
        </p:txBody>
      </p:sp>
      <p:sp>
        <p:nvSpPr>
          <p:cNvPr id="20" name="Text 18"/>
          <p:cNvSpPr/>
          <p:nvPr/>
        </p:nvSpPr>
        <p:spPr>
          <a:xfrm>
            <a:off x="8595360" y="42976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52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595360" y="47091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E10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GTM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595360" y="50749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A5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Two-time SMB SaaS founder. Brings playbook for vendor onboarding and channel sales.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91153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AI OFFICE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1067D"/>
          </a:solidFill>
          <a:ln w="12700">
            <a:solidFill>
              <a:srgbClr val="E1067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9814255" y="-548640"/>
            <a:ext cx="2926080" cy="1463040"/>
          </a:xfrm>
          <a:prstGeom prst="rect">
            <a:avLst/>
          </a:prstGeom>
          <a:solidFill>
            <a:srgbClr val="E1067D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731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E10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secure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640080" y="246888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10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offices together.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640080" y="3840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Raising a $3M seed to scale vendor onboarding, ship multi-tenant orgs, and reach 1,000 paying offices by year end.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4846320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13213A"/>
          </a:solidFill>
          <a:ln w="12700">
            <a:solidFill>
              <a:srgbClr val="2A3A5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49377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10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68680" y="53492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&amp; AI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429000" y="4846320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13213A"/>
          </a:solidFill>
          <a:ln w="12700">
            <a:solidFill>
              <a:srgbClr val="2A3A5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0" y="49377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10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657600" y="53492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GTM &amp; Vendor Ops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4846320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13213A"/>
          </a:solidFill>
          <a:ln w="12700">
            <a:solidFill>
              <a:srgbClr val="2A3A5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49377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10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46520" y="53492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Success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006840" y="4846320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13213A"/>
          </a:solidFill>
          <a:ln w="12700">
            <a:solidFill>
              <a:srgbClr val="2A3A5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35440" y="49377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10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235440" y="53492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6126480"/>
            <a:ext cx="10881360" cy="0"/>
          </a:xfrm>
          <a:prstGeom prst="line">
            <a:avLst/>
          </a:prstGeom>
          <a:noFill/>
          <a:ln w="12700">
            <a:solidFill>
              <a:srgbClr val="2A3A5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6263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hello@secureaioffice.com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894015" y="6263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10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secureaioffice.com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Secure AI Office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Secure AI Office — Pitch Deck</dc:title>
  <dc:subject>PptxGenJS Presentation</dc:subject>
  <dc:creator>Sensitek</dc:creator>
  <cp:lastModifiedBy>Sensitek</cp:lastModifiedBy>
  <cp:revision>1</cp:revision>
  <dcterms:created xsi:type="dcterms:W3CDTF">2026-04-30T17:07:23Z</dcterms:created>
  <dcterms:modified xsi:type="dcterms:W3CDTF">2026-04-30T17:07:23Z</dcterms:modified>
</cp:coreProperties>
</file>